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Тендерная выручка, млн руб.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34.12</c:v>
                </c:pt>
                <c:pt idx="1">
                  <c:v>35.86</c:v>
                </c:pt>
                <c:pt idx="2">
                  <c:v>30.84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Разрыв, баллы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Адаптация</c:v>
                </c:pt>
                <c:pt idx="1">
                  <c:v>Шаблоны</c:v>
                </c:pt>
                <c:pt idx="2">
                  <c:v>База знаний</c:v>
                </c:pt>
                <c:pt idx="3">
                  <c:v>Проверка</c:v>
                </c:pt>
                <c:pt idx="4">
                  <c:v>Разбор ошибок</c:v>
                </c:pt>
                <c:pt idx="5">
                  <c:v>KPI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3.0</c:v>
                </c:pt>
                <c:pt idx="1">
                  <c:v>2.6</c:v>
                </c:pt>
                <c:pt idx="2">
                  <c:v>2.7</c:v>
                </c:pt>
                <c:pt idx="3">
                  <c:v>2.8</c:v>
                </c:pt>
                <c:pt idx="4">
                  <c:v>2.8</c:v>
                </c:pt>
                <c:pt idx="5">
                  <c:v>2.6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5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Чистый поток, тыс. руб.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 год</c:v>
                </c:pt>
                <c:pt idx="1">
                  <c:v>2 год</c:v>
                </c:pt>
                <c:pt idx="2">
                  <c:v>3 год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-73.5</c:v>
                </c:pt>
                <c:pt idx="1">
                  <c:v>355.7</c:v>
                </c:pt>
                <c:pt idx="2">
                  <c:v>355.7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Выпускная квалификационная работа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9875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Совершенствование системы обучения и развития</a:t>
            </a:r>
            <a:br/>
            <a:r>
              <a:rPr sz="3200" b="1">
                <a:solidFill>
                  <a:srgbClr val="FFFFFF"/>
                </a:solidFill>
                <a:latin typeface="Arial"/>
              </a:rPr>
              <a:t>тендерных специалистов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rial"/>
              </a:rPr>
              <a:t>на примере ООО «Лайф Медиа»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74920"/>
            <a:ext cx="5669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Arial"/>
              </a:rPr>
              <a:t>Автор: Тезяева Т. Ю.</a:t>
            </a:r>
            <a:br/>
            <a:r>
              <a:rPr sz="1600" b="0">
                <a:solidFill>
                  <a:srgbClr val="FFFFFF"/>
                </a:solidFill>
                <a:latin typeface="Arial"/>
              </a:rPr>
              <a:t>Научный руководитель: ____________________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0807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ННГУ им. Н. И. Лобачевского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Объект, предмет и цель исследования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1188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3383280" cy="109728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11556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C90"/>
                </a:solidFill>
                <a:latin typeface="Arial"/>
              </a:rPr>
              <a:t>Объект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508760"/>
            <a:ext cx="3054096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rial"/>
              </a:rPr>
              <a:t>система управления персоналом ООО «Лайф Медиа»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05840"/>
            <a:ext cx="3383280" cy="109728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11556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C90"/>
                </a:solidFill>
                <a:latin typeface="Arial"/>
              </a:rPr>
              <a:t>Предмет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1508760"/>
            <a:ext cx="3054096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rial"/>
              </a:rPr>
              <a:t>система обучения и развития тендерных специалистов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05840"/>
            <a:ext cx="3383280" cy="109728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11556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C90"/>
                </a:solidFill>
                <a:latin typeface="Arial"/>
              </a:rPr>
              <a:t>Цель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1508760"/>
            <a:ext cx="3054096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rial"/>
              </a:rPr>
              <a:t>разработка и экономическое обоснование рекомендаций по совершенствованию системы обучения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060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3C90"/>
                </a:solidFill>
                <a:latin typeface="Arial"/>
              </a:rPr>
              <a:t>Актуальность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10515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закупочная деятельность формирует значимую часть выручки предприятия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ошибки в заявках приводят к отклонениям и потере контрактов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законодательство 44-ФЗ и 223-ФЗ регулярно обновляется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обучение должно быть встроено в процесс подготовки заявок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5A5A"/>
                </a:solidFill>
                <a:latin typeface="Arial"/>
              </a:rPr>
              <a:t>ВКР | Совершенствование системы обучения и развития тендерных специалистов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Задачи и алгоритм исследования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1188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1. Рассмотреть теоретические основы обучения и развития персонала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2. Изучить компетенции тендерных специалистов и методы оценки обучения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3. Охарактеризовать ООО «Лайф Медиа» и роль тендерного отдела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4. Проанализировать текущую систему обучения и выявить проблемы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5. Разработать мероприятия по совершенствованию системы обучения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6. Рассчитать затраты, эффект, ROI и дисконтированный доход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2057400" cy="77724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73C90"/>
                </a:solidFill>
                <a:latin typeface="Arial"/>
              </a:rPr>
              <a:t>Теория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005840"/>
            <a:ext cx="2057400" cy="77724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19" y="12344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73C90"/>
                </a:solidFill>
                <a:latin typeface="Arial"/>
              </a:rPr>
              <a:t>Анализ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23160"/>
            <a:ext cx="2057400" cy="77724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73C90"/>
                </a:solidFill>
                <a:latin typeface="Arial"/>
              </a:rPr>
              <a:t>Опрос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2423160"/>
            <a:ext cx="2057400" cy="77724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19" y="26517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73C90"/>
                </a:solidFill>
                <a:latin typeface="Arial"/>
              </a:rPr>
              <a:t>Проблемы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2057400" cy="77724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73C90"/>
                </a:solidFill>
                <a:latin typeface="Arial"/>
              </a:rPr>
              <a:t>Решения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3840480"/>
            <a:ext cx="2057400" cy="77724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19" y="40690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73C90"/>
                </a:solidFill>
                <a:latin typeface="Arial"/>
              </a:rPr>
              <a:t>Эффект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5A5A"/>
                </a:solidFill>
                <a:latin typeface="Arial"/>
              </a:rPr>
              <a:t>ВКР | Совершенствование системы обучения и развития тендерных специалистов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Краткая характеристика ООО «Лайф Медиа»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1188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669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малое предприятие, работающее в сфере оптовых поставок техники и оборудования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участие в B2B- и B2G-закупках является ключевым направлением деятельности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тендерный отдел — 8 специалистов из 17 сотрудников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удаленный формат работы повышает требования к цифровой дисциплине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выручка от тендерной деятельности в 2025 г. — 30,84 млн руб.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0" y="1143000"/>
          <a:ext cx="475488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4754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73C90"/>
                </a:solidFill>
                <a:latin typeface="Arial"/>
              </a:rPr>
              <a:t>Динамика тендерной выручки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5A5A"/>
                </a:solidFill>
                <a:latin typeface="Arial"/>
              </a:rPr>
              <a:t>ВКР | Совершенствование системы обучения и развития тендерных специалистов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Результаты анализа текущей системы обучения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1188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394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отсутствует утвержденная программа адаптации новых сотрудников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шаблоны и инструкции хранятся разрозненно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нет регулярного тестирования знаний по 44-ФЗ, 223-ФЗ и ЭТП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ошибки разбираются устно и не становятся общей базой опыта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обучение не связано с KPI и мотивацией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0" y="914400"/>
          <a:ext cx="51206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50749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3C90"/>
                </a:solidFill>
                <a:latin typeface="Arial"/>
              </a:rPr>
              <a:t>Экспертно-анкетная оценка: средний разрыв — 2,5 балла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5A5A"/>
                </a:solidFill>
                <a:latin typeface="Arial"/>
              </a:rPr>
              <a:t>ВКР | Совершенствование системы обучения и развития тендерных специалистов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Выявленные проблемы и причинно-следственная связь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1188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14400"/>
            <a:ext cx="2514600" cy="114300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024128"/>
            <a:ext cx="2185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C90"/>
                </a:solidFill>
                <a:latin typeface="Arial"/>
              </a:rPr>
              <a:t>Высокая текучесть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417320"/>
            <a:ext cx="21854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rial"/>
              </a:rPr>
              <a:t>37,5% в тендерном отделе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914400"/>
            <a:ext cx="2514600" cy="114300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024128"/>
            <a:ext cx="2185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C90"/>
                </a:solidFill>
                <a:latin typeface="Arial"/>
              </a:rPr>
              <a:t>Нет единой базы знаний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417320"/>
            <a:ext cx="21854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rial"/>
              </a:rPr>
              <a:t>устаревшие формы и шаблоны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914400"/>
            <a:ext cx="2514600" cy="114300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024128"/>
            <a:ext cx="2185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C90"/>
                </a:solidFill>
                <a:latin typeface="Arial"/>
              </a:rPr>
              <a:t>Нет чек-листа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417320"/>
            <a:ext cx="21854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rial"/>
              </a:rPr>
              <a:t>пропуск документов и ошибок ЭТП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914400"/>
            <a:ext cx="2514600" cy="114300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8592" y="1024128"/>
            <a:ext cx="2185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C90"/>
                </a:solidFill>
                <a:latin typeface="Arial"/>
              </a:rPr>
              <a:t>Нет оценки обучения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1417320"/>
            <a:ext cx="21854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rial"/>
              </a:rPr>
              <a:t>невозможно увидеть эффект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743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C90"/>
                </a:solidFill>
                <a:latin typeface="Arial"/>
              </a:rPr>
              <a:t>Следствие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46120"/>
            <a:ext cx="102412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77 отклоненных заявок за 2023–2025 гг.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доля отклонений на этапе допуска — около 15%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ошибки повторяются, так как опыт не фиксируется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компания теряет потенциальные контракты и рабочее время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5A5A"/>
                </a:solidFill>
                <a:latin typeface="Arial"/>
              </a:rPr>
              <a:t>ВКР | Совершенствование системы обучения и развития тендерных специалистов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Авторская модель: «Тендерная академия Лайф Медиа»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1188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60120"/>
            <a:ext cx="3063240" cy="123444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069848"/>
            <a:ext cx="27340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C90"/>
                </a:solidFill>
                <a:latin typeface="Arial"/>
              </a:rPr>
              <a:t>База знаний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27340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rial"/>
              </a:rPr>
              <a:t>шаблоны, инструкции, ошибки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960120"/>
            <a:ext cx="3063240" cy="123444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069848"/>
            <a:ext cx="27340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C90"/>
                </a:solidFill>
                <a:latin typeface="Arial"/>
              </a:rPr>
              <a:t>Адаптация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1463040"/>
            <a:ext cx="27340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rial"/>
              </a:rPr>
              <a:t>10-дневный маршрут новичка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960120"/>
            <a:ext cx="3063240" cy="123444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1069848"/>
            <a:ext cx="27340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C90"/>
                </a:solidFill>
                <a:latin typeface="Arial"/>
              </a:rPr>
              <a:t>Внешнее обучение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1463040"/>
            <a:ext cx="27340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rial"/>
              </a:rPr>
              <a:t>44-ФЗ и 223-ФЗ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88920"/>
            <a:ext cx="3063240" cy="123444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898648"/>
            <a:ext cx="27340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C90"/>
                </a:solidFill>
                <a:latin typeface="Arial"/>
              </a:rPr>
              <a:t>Чек-лист заявки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291839"/>
            <a:ext cx="27340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rial"/>
              </a:rPr>
              <a:t>контроль перед отправкой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2788920"/>
            <a:ext cx="3063240" cy="1234440"/>
          </a:xfrm>
          <a:prstGeom prst="roundRect">
            <a:avLst/>
          </a:prstGeom>
          <a:solidFill>
            <a:srgbClr val="E2EBFA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2898648"/>
            <a:ext cx="27340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C90"/>
                </a:solidFill>
                <a:latin typeface="Arial"/>
              </a:rPr>
              <a:t>Реестр ошибок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3291839"/>
            <a:ext cx="27340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rial"/>
              </a:rPr>
              <a:t>фиксация причин и действий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2788920"/>
            <a:ext cx="3063240" cy="1234440"/>
          </a:xfrm>
          <a:prstGeom prst="roundRect">
            <a:avLst/>
          </a:prstGeom>
          <a:solidFill>
            <a:srgbClr val="E8F6EC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2898648"/>
            <a:ext cx="27340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C90"/>
                </a:solidFill>
                <a:latin typeface="Arial"/>
              </a:rPr>
              <a:t>Оценка эффекта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3291839"/>
            <a:ext cx="27340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rial"/>
              </a:rPr>
              <a:t>KPI, тесты, ROI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73C90"/>
                </a:solidFill>
                <a:latin typeface="Arial"/>
              </a:rPr>
              <a:t>Логика модели: диагностика → обучение → применение → контроль → корректировка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5A5A"/>
                </a:solidFill>
                <a:latin typeface="Arial"/>
              </a:rPr>
              <a:t>ВКР | Совершенствование системы обучения и развития тендерных специалистов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План внедрения и бюджет мероприятий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1188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6692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срок внедрения — 3 месяца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ответственные: генеральный директор, руководитель тендерного отдела, наставники, юрист, системный администратор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основные затраты: обучение 44-ФЗ/223-ФЗ, LMS, настройка базы знаний, КриптоПро, премии наставникам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29400" y="914400"/>
          <a:ext cx="4389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</a:tblGrid>
              <a:tr h="431074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Статья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Сумма, руб.</a:t>
                      </a:r>
                    </a:p>
                  </a:txBody>
                  <a:tcPr/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Обучение 44-ФЗ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144 000</a:t>
                      </a:r>
                    </a:p>
                  </a:txBody>
                  <a:tcPr/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Обучение 223-ФЗ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128 000</a:t>
                      </a:r>
                    </a:p>
                  </a:txBody>
                  <a:tcPr/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LMS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43 656</a:t>
                      </a:r>
                    </a:p>
                  </a:txBody>
                  <a:tcPr/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Настройка Битрикс24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60 000</a:t>
                      </a:r>
                    </a:p>
                  </a:txBody>
                  <a:tcPr/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КриптоПро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14 800</a:t>
                      </a:r>
                    </a:p>
                  </a:txBody>
                  <a:tcPr/>
                </a:tc>
              </a:tr>
              <a:tr h="431076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Наставники и резерв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84 000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416052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1872D"/>
                </a:solidFill>
                <a:latin typeface="Arial"/>
              </a:rPr>
              <a:t>Итого: 474 456 руб.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5A5A"/>
                </a:solidFill>
                <a:latin typeface="Arial"/>
              </a:rPr>
              <a:t>ВКР | Совершенствование системы обучения и развития тендерных специалистов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Экономическая эффективность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1188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14400"/>
            <a:ext cx="2468880" cy="1143000"/>
          </a:xfrm>
          <a:prstGeom prst="roundRect">
            <a:avLst/>
          </a:prstGeom>
          <a:solidFill>
            <a:srgbClr val="E8F6EC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024128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C90"/>
                </a:solidFill>
                <a:latin typeface="Arial"/>
              </a:rPr>
              <a:t>NPV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417320"/>
            <a:ext cx="213969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rial"/>
              </a:rPr>
              <a:t>443,3 тыс. руб.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914400"/>
            <a:ext cx="2468880" cy="1143000"/>
          </a:xfrm>
          <a:prstGeom prst="roundRect">
            <a:avLst/>
          </a:prstGeom>
          <a:solidFill>
            <a:srgbClr val="E8F6EC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1" y="1024128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C90"/>
                </a:solidFill>
                <a:latin typeface="Arial"/>
              </a:rPr>
              <a:t>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1" y="1417320"/>
            <a:ext cx="213969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rial"/>
              </a:rPr>
              <a:t>81,5%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914400"/>
            <a:ext cx="2468880" cy="1143000"/>
          </a:xfrm>
          <a:prstGeom prst="roundRect">
            <a:avLst/>
          </a:prstGeom>
          <a:solidFill>
            <a:srgbClr val="E8F6EC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024128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C90"/>
                </a:solidFill>
                <a:latin typeface="Arial"/>
              </a:rPr>
              <a:t>Окупаемость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417320"/>
            <a:ext cx="213969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rial"/>
              </a:rPr>
              <a:t>1,21 года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59" y="914400"/>
            <a:ext cx="2468880" cy="1143000"/>
          </a:xfrm>
          <a:prstGeom prst="roundRect">
            <a:avLst/>
          </a:prstGeom>
          <a:solidFill>
            <a:srgbClr val="E8F6EC"/>
          </a:solidFill>
          <a:ln>
            <a:solidFill>
              <a:srgbClr val="17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5751" y="1024128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C90"/>
                </a:solidFill>
                <a:latin typeface="Arial"/>
              </a:rPr>
              <a:t>Чистый эффект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1" y="1417320"/>
            <a:ext cx="213969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rial"/>
              </a:rPr>
              <a:t>637,9 тыс. руб.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914400" y="2743200"/>
          <a:ext cx="493776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00800" y="2880360"/>
            <a:ext cx="4754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эффект формируется за счет роста побед, снижения отклонений и экономии времени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проект не требует привлечения инвесторского капитала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мероприятия соответствуют масштабу малого предприятия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5A5A"/>
                </a:solidFill>
                <a:latin typeface="Arial"/>
              </a:rPr>
              <a:t>ВКР | Совершенствование системы обучения и развития тендерных специалистов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Выводы и практическая значимость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1188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обучение тендерных специалистов доказано как фактор экономической устойчивости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выявлена системная проблема: обучение не встроено в процесс подготовки заявок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разработана прикладная модель «Тендерная академия Лайф Медиа»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мероприятия имеют социальный и экономический эффект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результаты могут быть внедрены без создания отдельной HR-службы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73C90"/>
                </a:solidFill>
                <a:latin typeface="Arial"/>
              </a:rPr>
              <a:t>Спасибо за внимание!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5A5A5A"/>
                </a:solidFill>
                <a:latin typeface="Arial"/>
              </a:rPr>
              <a:t>Готова ответить на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